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715000" type="screen16x1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Cambria Math" panose="02040503050406030204" pitchFamily="18" charset="0"/>
      <p:regular r:id="rId13"/>
    </p:embeddedFont>
    <p:embeddedFont>
      <p:font typeface="Courier Prim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324">
          <p15:clr>
            <a:srgbClr val="9AA0A6"/>
          </p15:clr>
        </p15:guide>
        <p15:guide id="4" pos="19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>
        <p:guide orient="horz" pos="1800"/>
        <p:guide pos="2880"/>
        <p:guide orient="horz" pos="3324"/>
        <p:guide pos="1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b03942d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0b03942d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b03942d1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0b03942d1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b03942d1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0b03942d1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c6f40b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3ec6f40b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: Conferenc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 descr="jkdjfkjsdklfjd" title="jhjdhfjsdh"/>
          <p:cNvSpPr txBox="1">
            <a:spLocks noGrp="1"/>
          </p:cNvSpPr>
          <p:nvPr>
            <p:ph type="ctrTitle"/>
          </p:nvPr>
        </p:nvSpPr>
        <p:spPr>
          <a:xfrm>
            <a:off x="1207425" y="2839544"/>
            <a:ext cx="56934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311708" y="340134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5200"/>
              <a:buFont typeface="Arial"/>
              <a:buNone/>
              <a:defRPr sz="5200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 descr="jkdjfkjsdklfjd" title="jhjdhfjsdh"/>
          <p:cNvSpPr txBox="1">
            <a:spLocks noGrp="1"/>
          </p:cNvSpPr>
          <p:nvPr>
            <p:ph type="ctrTitle" idx="3"/>
          </p:nvPr>
        </p:nvSpPr>
        <p:spPr>
          <a:xfrm>
            <a:off x="313526" y="4583667"/>
            <a:ext cx="49677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6986875" y="2702646"/>
            <a:ext cx="1962300" cy="10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6">
          <p15:clr>
            <a:srgbClr val="FA7B17"/>
          </p15:clr>
        </p15:guide>
        <p15:guide id="2" pos="5652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4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3657600" lvl="7" indent="-419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114800" lvl="8" indent="-4191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 rot="10800000" flipH="1">
            <a:off x="383286" y="1220828"/>
            <a:ext cx="8594700" cy="1200"/>
          </a:xfrm>
          <a:prstGeom prst="straightConnector1">
            <a:avLst/>
          </a:prstGeom>
          <a:noFill/>
          <a:ln w="19050" cap="flat" cmpd="sng">
            <a:solidFill>
              <a:srgbClr val="8B00E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/>
          <p:nvPr/>
        </p:nvSpPr>
        <p:spPr>
          <a:xfrm>
            <a:off x="4259825" y="5255639"/>
            <a:ext cx="3627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: CAOS">
  <p:cSld name="TITLE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311700" y="1155413"/>
            <a:ext cx="8520600" cy="17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5200"/>
              <a:buFont typeface="Arial"/>
              <a:buNone/>
              <a:defRPr sz="5200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4" descr="jkdjfkjsdklfjd" title="jhjdhfjsdh"/>
          <p:cNvSpPr txBox="1">
            <a:spLocks noGrp="1"/>
          </p:cNvSpPr>
          <p:nvPr>
            <p:ph type="ctrTitle" idx="2"/>
          </p:nvPr>
        </p:nvSpPr>
        <p:spPr>
          <a:xfrm>
            <a:off x="1645609" y="3185083"/>
            <a:ext cx="61713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4" descr="jkdjfkjsdklfjd" title="jhjdhfjsdh"/>
          <p:cNvSpPr txBox="1">
            <a:spLocks noGrp="1"/>
          </p:cNvSpPr>
          <p:nvPr>
            <p:ph type="ctrTitle" idx="3"/>
          </p:nvPr>
        </p:nvSpPr>
        <p:spPr>
          <a:xfrm>
            <a:off x="320125" y="5072831"/>
            <a:ext cx="31374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6">
          <p15:clr>
            <a:srgbClr val="FA7B17"/>
          </p15:clr>
        </p15:guide>
        <p15:guide id="2" orient="horz" pos="45">
          <p15:clr>
            <a:srgbClr val="FA7B17"/>
          </p15:clr>
        </p15:guide>
        <p15:guide id="3" orient="horz" pos="106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81000" y="127001"/>
            <a:ext cx="83820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Arial"/>
              <a:buNone/>
              <a:defRPr sz="47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81000" y="889000"/>
            <a:ext cx="8382000" cy="4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●"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marL="914400" lvl="1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■"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077200" y="5283729"/>
            <a:ext cx="6858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Cambria Math"/>
              <a:buNone/>
              <a:defRPr sz="2000" b="0" i="0" u="none">
                <a:solidFill>
                  <a:srgbClr val="898989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solidFill>
                <a:srgbClr val="8B00E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mbria"/>
              <a:buChar char="●"/>
              <a:defRPr sz="30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○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■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●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○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■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●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419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Char char="○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419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3000"/>
              <a:buFont typeface="Cambria"/>
              <a:buChar char="■"/>
              <a:defRPr sz="30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4758" y="526184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>
          <p15:clr>
            <a:srgbClr val="EA4335"/>
          </p15:clr>
        </p15:guide>
        <p15:guide id="2" orient="horz" pos="190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0826633_Empirical_Performance_Models_for_Java_Workload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mputer.org/csdl/proceedings-article/iiswc/2018/08573512/17D45WHONid" TargetMode="External"/><Relationship Id="rId4" Type="http://schemas.openxmlformats.org/officeDocument/2006/relationships/hyperlink" Target="https://www.cse.iitb.ac.in/~biswa/ASPLOS2026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ctrTitle" idx="2"/>
          </p:nvPr>
        </p:nvSpPr>
        <p:spPr>
          <a:xfrm>
            <a:off x="311700" y="470639"/>
            <a:ext cx="8520600" cy="48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 dirty="0">
                <a:solidFill>
                  <a:schemeClr val="dk1"/>
                </a:solidFill>
              </a:rPr>
              <a:t>CS683 Project Proposal</a:t>
            </a:r>
            <a:br>
              <a:rPr lang="en" sz="2500" dirty="0">
                <a:solidFill>
                  <a:schemeClr val="dk1"/>
                </a:solidFill>
              </a:rPr>
            </a:br>
            <a:br>
              <a:rPr lang="en" sz="2500" dirty="0">
                <a:solidFill>
                  <a:schemeClr val="dk1"/>
                </a:solidFill>
              </a:rPr>
            </a:br>
            <a:br>
              <a:rPr lang="en" sz="5400" b="1" dirty="0"/>
            </a:br>
            <a:r>
              <a:rPr lang="en" sz="2400" b="1" dirty="0"/>
              <a:t>Microarchitectural Characterization of Dynamic Language Runtimes</a:t>
            </a:r>
            <a:endParaRPr sz="3500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br>
              <a:rPr lang="en" sz="2400" dirty="0"/>
            </a:br>
            <a:endParaRPr sz="24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 dirty="0">
                <a:solidFill>
                  <a:srgbClr val="000000"/>
                </a:solidFill>
              </a:rPr>
              <a:t>Y Tagore Ravindra Sree</a:t>
            </a:r>
            <a:endParaRPr sz="15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000" dirty="0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24b1041@iitb.ac.in</a:t>
            </a:r>
            <a:endParaRPr sz="2000" dirty="0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" sz="1800">
                <a:solidFill>
                  <a:srgbClr val="8B00E7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rgbClr val="8B00E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500" dirty="0"/>
              <a:t>Problem statement</a:t>
            </a:r>
            <a:endParaRPr sz="3500" dirty="0"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311700" y="1304944"/>
            <a:ext cx="85206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Cache Hierarchy Thrashing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Dynamic runtimes(python, JVM) heavily rely on dynamic object allocation and pointer chasing, causing frequent L1 Data and last-level cache misses.</a:t>
            </a: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endParaRPr lang="en-US"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Pipeline Branch Hazards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: Dynamic type dispatch and indirect function jumps in interpreters/JIT compilers trigger frequent branch mispredictions and instructions pipeline stalls.</a:t>
            </a: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endParaRPr lang="en-US"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</a:rPr>
              <a:t>Bottleneck Quantification Gap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: Need to isolate and quantify whether performance degradation in dynamic languages is dominated by memory latency stalls(pointer dereferencing) or instruction/branch dependency stalls.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500"/>
              <a:t>Prior Works</a:t>
            </a:r>
            <a:endParaRPr sz="3500"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311700" y="1304944"/>
            <a:ext cx="85206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>
              <a:buClr>
                <a:srgbClr val="E06666"/>
              </a:buClr>
              <a:buSzPts val="2500"/>
              <a:buChar char="●"/>
            </a:pPr>
            <a:r>
              <a:rPr lang="en-IN" sz="2800" dirty="0">
                <a:hlinkClick r:id="rId3"/>
              </a:rPr>
              <a:t>https://www.researchgate.net/publication/220826633_Empirical_Performance_Models_for_Java_Workloads</a:t>
            </a:r>
            <a:endParaRPr lang="en-IN" sz="2800" dirty="0"/>
          </a:p>
          <a:p>
            <a:pPr marL="457200" lvl="0" indent="-387350">
              <a:buClr>
                <a:srgbClr val="E06666"/>
              </a:buClr>
              <a:buSzPts val="2500"/>
              <a:buChar char="●"/>
            </a:pPr>
            <a:r>
              <a:rPr lang="en-IN" sz="2800" dirty="0">
                <a:hlinkClick r:id="rId4"/>
              </a:rPr>
              <a:t>https://www.cse.iitb.ac.in/~biswa/ASPLOS2026.pdf</a:t>
            </a:r>
            <a:endParaRPr lang="en-IN" sz="2800" dirty="0"/>
          </a:p>
          <a:p>
            <a:pPr marL="457200" lvl="0" indent="-387350">
              <a:buClr>
                <a:srgbClr val="E06666"/>
              </a:buClr>
              <a:buSzPts val="2500"/>
              <a:buChar char="●"/>
            </a:pPr>
            <a:r>
              <a:rPr lang="en-IN" sz="2800" dirty="0">
                <a:hlinkClick r:id="rId5"/>
              </a:rPr>
              <a:t>https://www.computer.org/csdl/proceedings-article/iiswc/2018/08573512/17D45WHONid</a:t>
            </a:r>
            <a:r>
              <a:rPr lang="en-IN" sz="2800" dirty="0"/>
              <a:t> (optional).</a:t>
            </a:r>
            <a:endParaRPr sz="2500" dirty="0">
              <a:solidFill>
                <a:srgbClr val="E0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500"/>
              <a:t>Goal of the Project</a:t>
            </a:r>
            <a:endParaRPr sz="3500"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60" name="Google Shape;60;p10"/>
          <p:cNvSpPr txBox="1"/>
          <p:nvPr/>
        </p:nvSpPr>
        <p:spPr>
          <a:xfrm>
            <a:off x="311700" y="1304944"/>
            <a:ext cx="85206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 dirty="0" err="1">
                <a:solidFill>
                  <a:schemeClr val="dk1"/>
                </a:solidFill>
                <a:highlight>
                  <a:srgbClr val="FFFFFF"/>
                </a:highlight>
              </a:rPr>
              <a:t>Champsim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</a:rPr>
              <a:t>, Microbenchmarks from </a:t>
            </a:r>
            <a:r>
              <a:rPr lang="en-US" sz="2500" dirty="0" err="1">
                <a:solidFill>
                  <a:schemeClr val="dk1"/>
                </a:solidFill>
                <a:highlight>
                  <a:srgbClr val="FFFFFF"/>
                </a:highlight>
              </a:rPr>
              <a:t>Cpython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</a:rPr>
              <a:t> 3.12 runtime and </a:t>
            </a:r>
            <a:r>
              <a:rPr lang="en-US" sz="2500" dirty="0" err="1">
                <a:solidFill>
                  <a:schemeClr val="dk1"/>
                </a:solidFill>
                <a:highlight>
                  <a:srgbClr val="FFFFFF"/>
                </a:highlight>
              </a:rPr>
              <a:t>HotSpot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</a:rPr>
              <a:t> JVM.</a:t>
            </a: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endParaRPr lang="en-US" sz="25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87350">
              <a:buClr>
                <a:schemeClr val="dk1"/>
              </a:buClr>
              <a:buSzPts val="2500"/>
              <a:buChar char="●"/>
            </a:pPr>
            <a:r>
              <a:rPr lang="en-IN" sz="2800" dirty="0">
                <a:highlight>
                  <a:srgbClr val="FFFFFF"/>
                </a:highlight>
              </a:rPr>
              <a:t>This project will be entirely my own individual effort. Generative AI tools will not be used to generate simulation traces, execute experiments, or write analysis code. I agree to all CS683 project submission guidelines</a:t>
            </a:r>
            <a:r>
              <a:rPr lang="en-US" sz="2500" dirty="0">
                <a:solidFill>
                  <a:schemeClr val="dk1"/>
                </a:solidFill>
                <a:highlight>
                  <a:srgbClr val="FFFFFF"/>
                </a:highlight>
              </a:rPr>
              <a:t>. </a:t>
            </a: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endParaRPr sz="2500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500"/>
              <a:t>Plan for checkpoint-I</a:t>
            </a:r>
            <a:endParaRPr sz="3500"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7" name="Google Shape;67;p11"/>
          <p:cNvSpPr txBox="1"/>
          <p:nvPr/>
        </p:nvSpPr>
        <p:spPr>
          <a:xfrm>
            <a:off x="311700" y="1304944"/>
            <a:ext cx="85206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1) Compile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Cpython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 and Java programs and attach intel PIN tracer to generate trace files. Then, configure baseline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champsim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 core parameters. And, execute traces in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champsim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 to collect baseline cache miss rates and execution stall data.</a:t>
            </a: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endParaRPr lang="en-US" sz="2500" dirty="0">
              <a:solidFill>
                <a:srgbClr val="E06666"/>
              </a:solidFill>
              <a:highlight>
                <a:srgbClr val="FFFFFF"/>
              </a:highlight>
            </a:endParaRP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2) Quantify the exact percentage of execution cycles lost to memory stalls vs instruction pipeline stalls. Then, identify whether L1D or LLC cache miss dominate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performace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 degradation during dynamic dispatch.</a:t>
            </a:r>
            <a:endParaRPr sz="2500" dirty="0">
              <a:solidFill>
                <a:srgbClr val="E0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311700" y="485691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500"/>
              <a:t>Plan for checkpoint-II</a:t>
            </a:r>
            <a:endParaRPr sz="3500"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462728" y="5238667"/>
            <a:ext cx="644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74" name="Google Shape;74;p12"/>
          <p:cNvSpPr txBox="1"/>
          <p:nvPr/>
        </p:nvSpPr>
        <p:spPr>
          <a:xfrm>
            <a:off x="311700" y="1304944"/>
            <a:ext cx="8520600" cy="3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Deeper analysis: Evaluate how standard hardware prefetches handle pointer-chasing memory access patterns in dynamic language runtimes inside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champsim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. And, sweep LLC cache capacities in </a:t>
            </a:r>
            <a:r>
              <a:rPr lang="en-US" sz="2500" dirty="0" err="1">
                <a:solidFill>
                  <a:srgbClr val="E06666"/>
                </a:solidFill>
                <a:highlight>
                  <a:srgbClr val="FFFFFF"/>
                </a:highlight>
              </a:rPr>
              <a:t>champsim</a:t>
            </a: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 to determine the working set threshold for Python/Java execution.</a:t>
            </a: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endParaRPr lang="en-US" sz="2500" dirty="0">
              <a:solidFill>
                <a:srgbClr val="E06666"/>
              </a:solidFill>
              <a:highlight>
                <a:srgbClr val="FFFFFF"/>
              </a:highlight>
            </a:endParaRP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500"/>
            </a:pPr>
            <a:r>
              <a:rPr lang="en-US" sz="2500" dirty="0">
                <a:solidFill>
                  <a:srgbClr val="E06666"/>
                </a:solidFill>
                <a:highlight>
                  <a:srgbClr val="FFFFFF"/>
                </a:highlight>
              </a:rPr>
              <a:t>Final Deliverable: map specific features to microarchitectural bottlenecks. And suggest software/hardware optimizations.</a:t>
            </a:r>
            <a:endParaRPr sz="2500" dirty="0">
              <a:solidFill>
                <a:srgbClr val="E0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773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372</Words>
  <Application>Microsoft Office PowerPoint</Application>
  <PresentationFormat>On-screen Show (16:10)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Courier Prime</vt:lpstr>
      <vt:lpstr>Calibri</vt:lpstr>
      <vt:lpstr>Cambria</vt:lpstr>
      <vt:lpstr>Arial</vt:lpstr>
      <vt:lpstr>Cambria Math</vt:lpstr>
      <vt:lpstr>cs773</vt:lpstr>
      <vt:lpstr>CS683 Project Proposal   Microarchitectural Characterization of Dynamic Language Runtimes    Y Tagore Ravindra Sree 24b1041@iitb.ac.in</vt:lpstr>
      <vt:lpstr>Problem statement</vt:lpstr>
      <vt:lpstr>Prior Works</vt:lpstr>
      <vt:lpstr>Goal of the Project</vt:lpstr>
      <vt:lpstr>Plan for checkpoint-I</vt:lpstr>
      <vt:lpstr>Plan for checkpoint-II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Biswa</dc:creator>
  <cp:lastModifiedBy>Tagore ravindra Sree</cp:lastModifiedBy>
  <cp:revision>3</cp:revision>
  <dcterms:modified xsi:type="dcterms:W3CDTF">2026-10-07T14:32:14Z</dcterms:modified>
</cp:coreProperties>
</file>